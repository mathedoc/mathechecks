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F8E8"/>
    <a:srgbClr val="06CABC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4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631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1477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8369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661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174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18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3585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2446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4346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189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181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E4C7E-88AA-4C60-A0BA-F8990404B44F}" type="datetimeFigureOut">
              <a:rPr lang="de-DE" smtClean="0"/>
              <a:t>15.01.2023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43467-4FD4-473F-A44F-850DADDC2C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4288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/>
              <p:cNvSpPr txBox="1"/>
              <p:nvPr/>
            </p:nvSpPr>
            <p:spPr>
              <a:xfrm flipH="1">
                <a:off x="4195938" y="381200"/>
                <a:ext cx="3972374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/>
                  <a:t>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Kosten</m:t>
                    </m:r>
                    <m:r>
                      <a:rPr lang="de-DE" sz="1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de-DE" sz="1400" b="1" dirty="0" err="1">
                        <a:latin typeface="Cambria Math" panose="02040503050406030204" pitchFamily="18" charset="0"/>
                      </a:rPr>
                      <m:t>Var</m:t>
                    </m:r>
                    <m:r>
                      <m:rPr>
                        <m:nor/>
                      </m:rPr>
                      <a:rPr lang="de-DE" sz="1400" b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de-DE" sz="1400" b="1" dirty="0" err="1">
                        <a:latin typeface="Cambria Math" panose="02040503050406030204" pitchFamily="18" charset="0"/>
                      </a:rPr>
                      <m:t>St</m:t>
                    </m:r>
                    <m:r>
                      <m:rPr>
                        <m:nor/>
                      </m:rPr>
                      <a:rPr lang="de-DE" sz="1400" b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de-DE" sz="1400" b="1" dirty="0" err="1">
                        <a:latin typeface="Cambria Math" panose="02040503050406030204" pitchFamily="18" charset="0"/>
                      </a:rPr>
                      <m:t>Kosten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400" b="1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Menge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Fixkosten</m:t>
                    </m:r>
                  </m:oMath>
                </a14:m>
                <a:endParaRPr lang="de-DE" sz="1400" b="1" dirty="0">
                  <a:latin typeface="Cambria Math" panose="02040503050406030204" pitchFamily="18" charset="0"/>
                </a:endParaRPr>
              </a:p>
              <a:p>
                <a:r>
                  <a:rPr lang="de-DE" sz="14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        </m:t>
                    </m:r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𝟐𝟎𝟎</m:t>
                    </m:r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        ⋅      </m:t>
                    </m:r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 +    </m:t>
                    </m:r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𝟑𝟎𝟎𝟎</m:t>
                    </m:r>
                  </m:oMath>
                </a14:m>
                <a:endParaRPr lang="de-DE" sz="1400" b="1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r>
                  <a:rPr lang="de-DE" sz="1400" b="1" dirty="0">
                    <a:solidFill>
                      <a:schemeClr val="accent6">
                        <a:lumMod val="75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de-DE" sz="14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4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𝟓𝟎𝟎𝟎</m:t>
                    </m:r>
                  </m:oMath>
                </a14:m>
                <a:endParaRPr lang="de-DE" sz="1400" b="1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endParaRPr lang="de-DE" sz="500" i="1" dirty="0">
                  <a:latin typeface="Cambria Math" panose="02040503050406030204" pitchFamily="18" charset="0"/>
                </a:endParaRPr>
              </a:p>
              <a:p>
                <a:r>
                  <a:rPr lang="de-DE" sz="1600" b="1" dirty="0"/>
                  <a:t>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Erl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ö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se</m:t>
                    </m:r>
                    <m:r>
                      <a:rPr lang="de-DE" sz="1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Preis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400" b="1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Menge</m:t>
                    </m:r>
                  </m:oMath>
                </a14:m>
                <a:endParaRPr lang="de-DE" sz="1400" b="1" dirty="0"/>
              </a:p>
              <a:p>
                <a:r>
                  <a:rPr lang="de-DE" sz="1400" b="1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𝟔𝟎𝟎</m:t>
                    </m:r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⋅    </m:t>
                    </m:r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de-DE" sz="1400" b="1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r>
                  <a:rPr lang="de-DE" sz="1400" b="1" dirty="0">
                    <a:solidFill>
                      <a:schemeClr val="accent6">
                        <a:lumMod val="75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de-DE" sz="14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4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𝟔𝟎𝟎𝟎</m:t>
                    </m:r>
                  </m:oMath>
                </a14:m>
                <a:endParaRPr lang="de-DE" sz="1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de-DE" sz="500" dirty="0"/>
              </a:p>
              <a:p>
                <a:r>
                  <a:rPr lang="de-DE" sz="1600" b="1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Gewinn</m:t>
                    </m:r>
                    <m:r>
                      <a:rPr lang="de-DE" sz="1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Erl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ö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se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 – </m:t>
                    </m:r>
                    <m:r>
                      <m:rPr>
                        <m:nor/>
                      </m:rPr>
                      <a:rPr lang="de-DE" sz="1400" b="1" dirty="0">
                        <a:latin typeface="Cambria Math" panose="02040503050406030204" pitchFamily="18" charset="0"/>
                      </a:rPr>
                      <m:t>Kosten</m:t>
                    </m:r>
                  </m:oMath>
                </a14:m>
                <a:endParaRPr lang="de-DE" sz="1400" b="1" dirty="0"/>
              </a:p>
              <a:p>
                <a:r>
                  <a:rPr lang="de-DE" sz="14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𝟔𝟎𝟎𝟎</m:t>
                    </m:r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de-DE" sz="1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𝟓𝟎𝟎𝟎</m:t>
                    </m:r>
                  </m:oMath>
                </a14:m>
                <a:endParaRPr lang="de-DE" sz="1400" b="1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r>
                  <a:rPr lang="de-DE" sz="1400" b="1" dirty="0">
                    <a:solidFill>
                      <a:schemeClr val="accent6">
                        <a:lumMod val="75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de-DE" sz="14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4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𝟏𝟎𝟎𝟎</m:t>
                    </m:r>
                  </m:oMath>
                </a14:m>
                <a:endParaRPr lang="de-DE" sz="1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95938" y="381200"/>
                <a:ext cx="3972374" cy="22467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uppieren 36"/>
          <p:cNvGrpSpPr/>
          <p:nvPr/>
        </p:nvGrpSpPr>
        <p:grpSpPr>
          <a:xfrm>
            <a:off x="314414" y="4184395"/>
            <a:ext cx="1557459" cy="1711992"/>
            <a:chOff x="314414" y="4184395"/>
            <a:chExt cx="1557459" cy="1711992"/>
          </a:xfrm>
        </p:grpSpPr>
        <p:pic>
          <p:nvPicPr>
            <p:cNvPr id="1036" name="Picture 12" descr="Материалы для производства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414" y="4636387"/>
              <a:ext cx="1557459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/>
            <p:cNvSpPr txBox="1"/>
            <p:nvPr/>
          </p:nvSpPr>
          <p:spPr>
            <a:xfrm>
              <a:off x="493272" y="4184395"/>
              <a:ext cx="11082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/>
                <a:t>Rohstoffe</a:t>
              </a:r>
            </a:p>
          </p:txBody>
        </p:sp>
      </p:grpSp>
      <p:grpSp>
        <p:nvGrpSpPr>
          <p:cNvPr id="38" name="Gruppieren 37"/>
          <p:cNvGrpSpPr/>
          <p:nvPr/>
        </p:nvGrpSpPr>
        <p:grpSpPr>
          <a:xfrm>
            <a:off x="2993037" y="4184395"/>
            <a:ext cx="1993633" cy="1711992"/>
            <a:chOff x="2993037" y="4184395"/>
            <a:chExt cx="1993633" cy="1711992"/>
          </a:xfrm>
        </p:grpSpPr>
        <p:pic>
          <p:nvPicPr>
            <p:cNvPr id="1032" name="Picture 8" descr="Mobile-Box | und dein altes Handy macht Sinn!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1792" y="4636387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feld 11"/>
            <p:cNvSpPr txBox="1"/>
            <p:nvPr/>
          </p:nvSpPr>
          <p:spPr>
            <a:xfrm>
              <a:off x="2993037" y="4184395"/>
              <a:ext cx="1993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/>
                <a:t>Zwischenprodukte</a:t>
              </a:r>
            </a:p>
          </p:txBody>
        </p:sp>
      </p:grpSp>
      <p:grpSp>
        <p:nvGrpSpPr>
          <p:cNvPr id="41" name="Gruppieren 40"/>
          <p:cNvGrpSpPr/>
          <p:nvPr/>
        </p:nvGrpSpPr>
        <p:grpSpPr>
          <a:xfrm>
            <a:off x="6680145" y="4184395"/>
            <a:ext cx="1995007" cy="1711992"/>
            <a:chOff x="6680145" y="4184395"/>
            <a:chExt cx="1995007" cy="1711992"/>
          </a:xfrm>
        </p:grpSpPr>
        <p:pic>
          <p:nvPicPr>
            <p:cNvPr id="1028" name="Picture 4" descr="Samsung Smartphones: Eine Erfolgsgeschichte ohne Gleichen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0145" y="4636387"/>
              <a:ext cx="1764001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feld 12"/>
            <p:cNvSpPr txBox="1"/>
            <p:nvPr/>
          </p:nvSpPr>
          <p:spPr>
            <a:xfrm>
              <a:off x="6780091" y="4184395"/>
              <a:ext cx="18950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/>
                <a:t>Endprodukte</a:t>
              </a:r>
            </a:p>
          </p:txBody>
        </p:sp>
      </p:grpSp>
      <p:sp>
        <p:nvSpPr>
          <p:cNvPr id="6" name="Gestreifter Pfeil nach rechts 5"/>
          <p:cNvSpPr/>
          <p:nvPr/>
        </p:nvSpPr>
        <p:spPr>
          <a:xfrm>
            <a:off x="2182714" y="4927321"/>
            <a:ext cx="823364" cy="678133"/>
          </a:xfrm>
          <a:prstGeom prst="stripedRightArrow">
            <a:avLst/>
          </a:prstGeom>
          <a:solidFill>
            <a:srgbClr val="1CF8E8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Gestreifter Pfeil nach rechts 14"/>
          <p:cNvSpPr/>
          <p:nvPr/>
        </p:nvSpPr>
        <p:spPr>
          <a:xfrm>
            <a:off x="5214286" y="4927321"/>
            <a:ext cx="823364" cy="678133"/>
          </a:xfrm>
          <a:prstGeom prst="stripedRightArrow">
            <a:avLst/>
          </a:prstGeom>
          <a:solidFill>
            <a:srgbClr val="1CF8E8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245350" y="5908411"/>
            <a:ext cx="160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Rohstoffkosten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2417292" y="5896387"/>
            <a:ext cx="3046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Kosten der 1. Produktionsstufe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493272" y="3359658"/>
            <a:ext cx="8145903" cy="564715"/>
          </a:xfrm>
          <a:prstGeom prst="rect">
            <a:avLst/>
          </a:prstGeom>
          <a:solidFill>
            <a:srgbClr val="1CF8E8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sz="2400" dirty="0">
                <a:solidFill>
                  <a:schemeClr val="tx1"/>
                </a:solidFill>
              </a:rPr>
              <a:t>Mehrstufige Produktionsprozesse</a:t>
            </a:r>
          </a:p>
        </p:txBody>
      </p:sp>
      <p:grpSp>
        <p:nvGrpSpPr>
          <p:cNvPr id="42" name="Gruppieren 41"/>
          <p:cNvGrpSpPr/>
          <p:nvPr/>
        </p:nvGrpSpPr>
        <p:grpSpPr>
          <a:xfrm>
            <a:off x="5898377" y="5908411"/>
            <a:ext cx="3060838" cy="750688"/>
            <a:chOff x="5898377" y="5908411"/>
            <a:chExt cx="3060838" cy="750688"/>
          </a:xfrm>
        </p:grpSpPr>
        <p:sp>
          <p:nvSpPr>
            <p:cNvPr id="19" name="Textfeld 18"/>
            <p:cNvSpPr txBox="1"/>
            <p:nvPr/>
          </p:nvSpPr>
          <p:spPr>
            <a:xfrm>
              <a:off x="5898378" y="5908411"/>
              <a:ext cx="3060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Kosten der 2. Produktionsstufe</a:t>
              </a:r>
            </a:p>
          </p:txBody>
        </p:sp>
        <p:sp>
          <p:nvSpPr>
            <p:cNvPr id="21" name="Textfeld 20"/>
            <p:cNvSpPr txBox="1"/>
            <p:nvPr/>
          </p:nvSpPr>
          <p:spPr>
            <a:xfrm>
              <a:off x="5898377" y="6289767"/>
              <a:ext cx="3060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Preise </a:t>
              </a:r>
              <a:r>
                <a:rPr lang="de-DE" dirty="0"/>
                <a:t>der </a:t>
              </a:r>
              <a:r>
                <a:rPr lang="de-DE" dirty="0" smtClean="0"/>
                <a:t>Endprodukte</a:t>
              </a:r>
              <a:endParaRPr lang="de-DE" dirty="0"/>
            </a:p>
          </p:txBody>
        </p:sp>
      </p:grpSp>
      <p:grpSp>
        <p:nvGrpSpPr>
          <p:cNvPr id="36" name="Gruppieren 35"/>
          <p:cNvGrpSpPr/>
          <p:nvPr/>
        </p:nvGrpSpPr>
        <p:grpSpPr>
          <a:xfrm>
            <a:off x="550150" y="381200"/>
            <a:ext cx="3444555" cy="1975345"/>
            <a:chOff x="245350" y="250126"/>
            <a:chExt cx="3444555" cy="1975345"/>
          </a:xfrm>
        </p:grpSpPr>
        <p:pic>
          <p:nvPicPr>
            <p:cNvPr id="1030" name="Picture 6" descr="Samsung Handys – Samsung Handy mit/ohne Vertra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345" r="20851"/>
            <a:stretch/>
          </p:blipFill>
          <p:spPr bwMode="auto">
            <a:xfrm>
              <a:off x="245350" y="668220"/>
              <a:ext cx="853440" cy="1557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feld 2"/>
            <p:cNvSpPr txBox="1"/>
            <p:nvPr/>
          </p:nvSpPr>
          <p:spPr>
            <a:xfrm>
              <a:off x="1045568" y="713505"/>
              <a:ext cx="264433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Smartphones: 10</a:t>
              </a:r>
            </a:p>
            <a:p>
              <a:r>
                <a:rPr lang="de-DE" dirty="0"/>
                <a:t>Variable Stückkosten: 200</a:t>
              </a:r>
            </a:p>
            <a:p>
              <a:r>
                <a:rPr lang="de-DE" dirty="0"/>
                <a:t>Fixkosten: 3000</a:t>
              </a:r>
            </a:p>
            <a:p>
              <a:r>
                <a:rPr lang="de-DE" dirty="0"/>
                <a:t>Preis: 600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245350" y="250126"/>
              <a:ext cx="34445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EKG: </a:t>
              </a:r>
              <a:r>
                <a:rPr lang="de-DE" dirty="0" smtClean="0"/>
                <a:t>Produktion von Smartphones</a:t>
              </a:r>
              <a:endParaRPr lang="de-DE" dirty="0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354331" y="605637"/>
              <a:ext cx="3140212" cy="1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7" name="Pfeil nach unten 26"/>
          <p:cNvSpPr/>
          <p:nvPr/>
        </p:nvSpPr>
        <p:spPr>
          <a:xfrm>
            <a:off x="591441" y="2499961"/>
            <a:ext cx="3182546" cy="667377"/>
          </a:xfrm>
          <a:prstGeom prst="downArrow">
            <a:avLst>
              <a:gd name="adj1" fmla="val 71563"/>
              <a:gd name="adj2" fmla="val 50429"/>
            </a:avLst>
          </a:prstGeom>
          <a:solidFill>
            <a:srgbClr val="1CF8E8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Realistischeres Modell</a:t>
            </a:r>
            <a:endParaRPr lang="de-DE" dirty="0">
              <a:solidFill>
                <a:schemeClr val="tx1"/>
              </a:solidFill>
            </a:endParaRPr>
          </a:p>
        </p:txBody>
      </p:sp>
      <p:grpSp>
        <p:nvGrpSpPr>
          <p:cNvPr id="43" name="Gruppieren 42"/>
          <p:cNvGrpSpPr/>
          <p:nvPr/>
        </p:nvGrpSpPr>
        <p:grpSpPr>
          <a:xfrm>
            <a:off x="5898377" y="446419"/>
            <a:ext cx="1210030" cy="941225"/>
            <a:chOff x="5898377" y="446419"/>
            <a:chExt cx="1210030" cy="941225"/>
          </a:xfrm>
        </p:grpSpPr>
        <p:sp>
          <p:nvSpPr>
            <p:cNvPr id="32" name="Abgerundetes Rechteck 31"/>
            <p:cNvSpPr/>
            <p:nvPr/>
          </p:nvSpPr>
          <p:spPr>
            <a:xfrm>
              <a:off x="6519072" y="446419"/>
              <a:ext cx="589335" cy="198796"/>
            </a:xfrm>
            <a:prstGeom prst="roundRect">
              <a:avLst/>
            </a:prstGeom>
            <a:solidFill>
              <a:srgbClr val="1CF8E8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40" name="Abgerundetes Rechteck 39"/>
            <p:cNvSpPr/>
            <p:nvPr/>
          </p:nvSpPr>
          <p:spPr>
            <a:xfrm>
              <a:off x="5898377" y="1188848"/>
              <a:ext cx="589335" cy="198796"/>
            </a:xfrm>
            <a:prstGeom prst="roundRect">
              <a:avLst/>
            </a:prstGeom>
            <a:solidFill>
              <a:srgbClr val="1CF8E8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</p:grpSp>
      <p:sp>
        <p:nvSpPr>
          <p:cNvPr id="34" name="Vertikales Scrollen 33"/>
          <p:cNvSpPr/>
          <p:nvPr/>
        </p:nvSpPr>
        <p:spPr>
          <a:xfrm>
            <a:off x="6813740" y="1472524"/>
            <a:ext cx="2096898" cy="1361126"/>
          </a:xfrm>
          <a:prstGeom prst="verticalScroll">
            <a:avLst/>
          </a:prstGeom>
          <a:solidFill>
            <a:srgbClr val="1CF8E8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Statt einer Mengenart: viele Mengenarten !</a:t>
            </a:r>
          </a:p>
        </p:txBody>
      </p:sp>
    </p:spTree>
    <p:extLst>
      <p:ext uri="{BB962C8B-B14F-4D97-AF65-F5344CB8AC3E}">
        <p14:creationId xmlns:p14="http://schemas.microsoft.com/office/powerpoint/2010/main" val="129252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7" grpId="0"/>
      <p:bldP spid="18" grpId="0"/>
      <p:bldP spid="7" grpId="0" animBg="1"/>
      <p:bldP spid="27" grpId="0" animBg="1"/>
      <p:bldP spid="34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</Words>
  <Application>Microsoft Office PowerPoint</Application>
  <PresentationFormat>Bildschirmpräsentation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fue</dc:creator>
  <cp:lastModifiedBy>Anwender</cp:lastModifiedBy>
  <cp:revision>20</cp:revision>
  <dcterms:created xsi:type="dcterms:W3CDTF">2023-01-14T11:28:40Z</dcterms:created>
  <dcterms:modified xsi:type="dcterms:W3CDTF">2023-01-15T19:42:44Z</dcterms:modified>
</cp:coreProperties>
</file>